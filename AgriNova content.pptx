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4CA1-D3ED-2319-16C3-FB87C46AA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0FE75-167C-933C-8F18-4713A9E98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6D178-972F-F99C-6ED5-7A257B81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5968A-23B7-A2CE-2B4F-142B5CAA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326D5-C66F-F4A6-C630-189DFCAD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2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0D80-F6F6-E0BE-02E8-0BB64791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C187E-A334-37A0-A3D4-F7FA0A32B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C6BFB-0B72-21A3-2A37-358980647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3DA85-59B7-DC93-F2FC-AC6697EA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30395-3325-87A1-B516-1949434CD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069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7670-F27F-DB43-8BBC-DFA0DEA7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8F017-3AA0-C68E-5B36-3EEB4213A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68BA6-B2EC-4A4C-476D-CA7BE05B0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7BCA0-DE5D-5AE3-774F-198B78AC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A27D4-C533-6445-D716-69BBFBE02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275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9FD7-E03A-7A91-DEED-9499A231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3D240-B82C-E1F7-D5B1-8792ECFB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7F51A-69D6-E105-4956-AA34D8F98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EB3F3-E8D3-8628-4A4F-F7AC32E6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E92C2-B215-48C8-C252-E5F065CB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3AAAA-5D20-D710-1C58-70E9E2A0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60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79AC-C370-2CDE-676A-92DF42036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51C25-9590-6141-5F30-756238B51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EDAD7-937B-760F-04CF-7ACF12698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C8467-4F54-B78C-E09E-FECC8940A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6CB23E-38AB-BED4-3FD1-946AF7B98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2DF52-BF46-2B69-BB31-DD191E71C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0B194-F3CC-4D82-2C7A-1637EB464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85296D-FB45-25D9-5237-0403D289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276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AA0E-A1A1-3B9D-E2D4-5608C3342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BE2C4-EAB2-1F51-46E6-67866767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A2700-C347-E33F-1AF8-7511B165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D8A30-428B-1C47-2BF0-A98220D5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73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386A3A-5441-ACA0-B96D-FF20300D1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83016-6707-138F-A18F-421EBE1D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E37FF-3241-20D8-2E03-C3C2250A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34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06E6-B95F-8D5F-617B-D7E5F19C5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B3FA-54D8-9B76-2A60-F2CD01DFC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81F9F-6E1D-7466-FD0E-D7396F369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B7F8D-8789-91F8-6BDF-4BB235324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295AF-83CA-FB9C-F38A-492D01E37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CDD15-AA95-5B65-CCEF-DC84F5A7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63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BCB6-5BBA-FA68-6A64-5D38E3A09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3835A1-FCD3-3150-B7B1-BD801E2C028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188D7-B42C-79F1-D47E-19729F886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0CE58-5620-A806-385F-B1E06BDAE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653C2-55D4-D75F-B268-4369EEC6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B3CF4-9604-2C1F-494B-7B5E24EF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06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41D81-F1B1-45D8-F329-3105F96A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7D031-5A8F-5D61-0108-21B257620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E88A8-4740-797D-F31C-D136B45B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C401C-26E6-7CF4-3266-C80069519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AF62A-6554-9200-EC60-AA6528EC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38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7BE3F-6749-91E1-4545-AA820D404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88A38-02A5-2F94-B73B-D206E0D67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EC4C7-C273-1636-5EB7-F2B8A966A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DA831-3EA5-F8AB-636E-37664EFC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DCF2F-8514-2FC5-3E39-78833BE4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865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93C839-BEC4-91C0-B30F-4AB5D29C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3FD14-A969-E74B-48FA-AC69789C7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0BBCE-F5BB-FB0A-032D-C1B97D5E5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5A050-F0C9-4EF2-8DA2-573BFBCC292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79770-4417-2E98-6CD7-693FBEBEB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223FE-37EB-F8AE-B52E-B79F35185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172A7-A59A-4182-9827-03AA38E50C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268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E586-3AFF-E260-4EF0-090BFDB47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i="0" dirty="0" err="1">
                <a:effectLst/>
              </a:rPr>
              <a:t>AgriNova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AB201-48D1-90E4-1D66-6323CF454B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Smart Agriculture, Marketplace &amp; Decision Support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2354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16E7-6726-844F-E41F-30A2B941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Introduction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190E2-145A-86AD-6788-06B0D28BBCF5}"/>
              </a:ext>
            </a:extLst>
          </p:cNvPr>
          <p:cNvSpPr txBox="1"/>
          <p:nvPr/>
        </p:nvSpPr>
        <p:spPr>
          <a:xfrm>
            <a:off x="993057" y="1549664"/>
            <a:ext cx="813127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b="0" i="0" dirty="0" err="1">
                <a:effectLst/>
                <a:latin typeface="+mn-lt"/>
              </a:rPr>
              <a:t>AgriNova</a:t>
            </a:r>
            <a:r>
              <a:rPr lang="en-IN" b="0" i="0" dirty="0">
                <a:effectLst/>
                <a:latin typeface="+mn-lt"/>
              </a:rPr>
              <a:t> is an integrated digital agriculture platform that connects farmers and buyers through a single web application.</a:t>
            </a:r>
            <a:endParaRPr lang="en-IN" dirty="0">
              <a:effectLst/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Direct Digital Marketplace:</a:t>
            </a:r>
            <a:r>
              <a:rPr lang="en-IN" b="0" i="0" dirty="0">
                <a:effectLst/>
              </a:rPr>
              <a:t> Connects farmers directly with buyers.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</a:rPr>
              <a:t>AgriBot</a:t>
            </a:r>
            <a:r>
              <a:rPr lang="en-IN" b="1" i="0" dirty="0">
                <a:effectLst/>
              </a:rPr>
              <a:t> AI Advisory:</a:t>
            </a:r>
            <a:r>
              <a:rPr lang="en-IN" b="0" i="0" dirty="0">
                <a:effectLst/>
              </a:rPr>
              <a:t> Provides farming guidance and crop disease assistance.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Smart Decision Support:</a:t>
            </a:r>
            <a:r>
              <a:rPr lang="en-IN" b="0" i="0" dirty="0">
                <a:effectLst/>
              </a:rPr>
              <a:t> Offers mandi prices, weather forecasts, and sales analytics.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Trust &amp; Governance:</a:t>
            </a:r>
            <a:r>
              <a:rPr lang="en-IN" b="0" i="0" dirty="0">
                <a:effectLst/>
              </a:rPr>
              <a:t> Supports farmer verification, chat moderation, and dispute management.</a:t>
            </a:r>
          </a:p>
          <a:p>
            <a:pPr lvl="0"/>
            <a:endParaRPr lang="en-IN" dirty="0"/>
          </a:p>
          <a:p>
            <a:pPr>
              <a:lnSpc>
                <a:spcPct val="100000"/>
              </a:lnSpc>
              <a:buNone/>
            </a:pPr>
            <a:r>
              <a:rPr lang="en-IN" b="0" i="0" dirty="0">
                <a:effectLst/>
                <a:latin typeface="+mn-lt"/>
              </a:rPr>
              <a:t>Why </a:t>
            </a:r>
            <a:r>
              <a:rPr lang="en-IN" b="0" i="0" dirty="0" err="1">
                <a:effectLst/>
                <a:latin typeface="+mn-lt"/>
              </a:rPr>
              <a:t>AgriNova</a:t>
            </a:r>
            <a:r>
              <a:rPr lang="en-IN" b="0" i="0" dirty="0">
                <a:effectLst/>
                <a:latin typeface="+mn-lt"/>
              </a:rPr>
              <a:t> Matters?</a:t>
            </a:r>
            <a:endParaRPr lang="en-IN" dirty="0">
              <a:effectLst/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</a:rPr>
              <a:t>Improves access to buyers and market information.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</a:rPr>
              <a:t>Supports informed farming and selling decisions.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</a:rPr>
              <a:t>Promotes transparent transactions and safer communication.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6088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6448-5209-F837-F1A4-04AE3E9F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D13A7-6683-4125-D40C-C100EB8E0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Current Challenges</a:t>
            </a:r>
            <a:endParaRPr lang="en-IN" dirty="0"/>
          </a:p>
          <a:p>
            <a:pPr lvl="0"/>
            <a:r>
              <a:rPr lang="en-IN" dirty="0"/>
              <a:t>Farmers depend on intermediaries to reach buyers.</a:t>
            </a:r>
          </a:p>
          <a:p>
            <a:pPr lvl="0"/>
            <a:r>
              <a:rPr lang="en-IN" dirty="0"/>
              <a:t>Limited access to transparent market prices.</a:t>
            </a:r>
          </a:p>
          <a:p>
            <a:pPr lvl="0"/>
            <a:r>
              <a:rPr lang="en-IN" dirty="0"/>
              <a:t>Difficulty accessing timely farming guidance.</a:t>
            </a:r>
          </a:p>
          <a:p>
            <a:pPr lvl="0"/>
            <a:r>
              <a:rPr lang="en-IN" dirty="0"/>
              <a:t>Risk of fraud and unsafe communication.</a:t>
            </a:r>
          </a:p>
          <a:p>
            <a:pPr lvl="0"/>
            <a:r>
              <a:rPr lang="en-IN" dirty="0"/>
              <a:t>Manual order tracking and invoice management.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Proposed Solution</a:t>
            </a:r>
            <a:endParaRPr lang="en-IN" dirty="0"/>
          </a:p>
          <a:p>
            <a:pPr lvl="0"/>
            <a:r>
              <a:rPr lang="en-IN" b="0" i="0" dirty="0">
                <a:effectLst/>
              </a:rPr>
              <a:t>Direct farmer-to-buyer marketplace.</a:t>
            </a:r>
            <a:endParaRPr lang="en-IN" dirty="0"/>
          </a:p>
          <a:p>
            <a:pPr lvl="0"/>
            <a:r>
              <a:rPr lang="en-IN" b="0" i="0" dirty="0">
                <a:effectLst/>
              </a:rPr>
              <a:t>Mandi price information and weather forecasts.</a:t>
            </a:r>
            <a:endParaRPr lang="en-IN" dirty="0"/>
          </a:p>
          <a:p>
            <a:pPr lvl="0"/>
            <a:r>
              <a:rPr lang="en-IN" b="0" i="0" dirty="0">
                <a:effectLst/>
              </a:rPr>
              <a:t>AI-powered </a:t>
            </a:r>
            <a:r>
              <a:rPr lang="en-IN" b="0" i="0" dirty="0" err="1">
                <a:effectLst/>
              </a:rPr>
              <a:t>AgriBot</a:t>
            </a:r>
            <a:r>
              <a:rPr lang="en-IN" b="0" i="0" dirty="0">
                <a:effectLst/>
              </a:rPr>
              <a:t> for farming assistance.</a:t>
            </a:r>
            <a:endParaRPr lang="en-IN" dirty="0"/>
          </a:p>
          <a:p>
            <a:pPr lvl="0"/>
            <a:r>
              <a:rPr lang="en-IN" b="0" i="0" dirty="0">
                <a:effectLst/>
              </a:rPr>
              <a:t>AI-based chat moderation and farmer verification.</a:t>
            </a:r>
            <a:endParaRPr lang="en-IN" dirty="0"/>
          </a:p>
          <a:p>
            <a:pPr lvl="0"/>
            <a:r>
              <a:rPr lang="en-IN" b="0" i="0" dirty="0">
                <a:effectLst/>
              </a:rPr>
              <a:t>Digital orders, tracking, and invoice generation.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959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9CDD9-65FD-E6F2-6AC0-1EE3AE2F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Project Definition &amp;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2F297-1DCE-87D6-3BB0-54868CA84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Project Definition</a:t>
            </a:r>
            <a:endParaRPr lang="en-IN" dirty="0"/>
          </a:p>
          <a:p>
            <a:r>
              <a:rPr lang="en-IN" dirty="0" err="1"/>
              <a:t>AgriNova</a:t>
            </a:r>
            <a:r>
              <a:rPr lang="en-IN" dirty="0"/>
              <a:t> is a full-stack web application that connects farmers and buyers through a direct agricultural marketplace, AI-powered farming assistance, market information, and secure digital transaction management.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Key Objectives</a:t>
            </a:r>
            <a:endParaRPr lang="en-IN" dirty="0"/>
          </a:p>
          <a:p>
            <a:pPr lvl="0"/>
            <a:r>
              <a:rPr lang="en-IN" b="1" dirty="0"/>
              <a:t>Direct Marketplace:</a:t>
            </a:r>
            <a:r>
              <a:rPr lang="en-IN" dirty="0"/>
              <a:t> Enable farmers to list and sell agricultural products directly to buyers.</a:t>
            </a:r>
          </a:p>
          <a:p>
            <a:pPr lvl="0"/>
            <a:r>
              <a:rPr lang="en-IN" b="1" dirty="0"/>
              <a:t>AI Assistance:</a:t>
            </a:r>
            <a:r>
              <a:rPr lang="en-IN" dirty="0"/>
              <a:t> Provide farming guidance through </a:t>
            </a:r>
            <a:r>
              <a:rPr lang="en-IN" dirty="0" err="1"/>
              <a:t>AgriBot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Market Transparency: Provide mandi prices and weather information.</a:t>
            </a:r>
            <a:endParaRPr lang="en-IN" dirty="0"/>
          </a:p>
          <a:p>
            <a:pPr lvl="0"/>
            <a:r>
              <a:rPr lang="en-IN" b="1" dirty="0"/>
              <a:t>Smart Communication:</a:t>
            </a:r>
            <a:r>
              <a:rPr lang="en-IN" dirty="0"/>
              <a:t> Support real-time messaging and AI-based chat moderation.</a:t>
            </a:r>
          </a:p>
          <a:p>
            <a:pPr lvl="0"/>
            <a:r>
              <a:rPr lang="en-IN" b="1" dirty="0"/>
              <a:t>Secure Management:</a:t>
            </a:r>
            <a:r>
              <a:rPr lang="en-IN" dirty="0"/>
              <a:t> Manage users, orders, farmer verification, and support requests.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08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B3DF-6658-B8E8-B260-7B59144B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Project Profile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7F9FF1-08B7-4836-3385-4CD100FD82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80738" y="1825627"/>
          <a:ext cx="9030524" cy="4351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5262">
                  <a:extLst>
                    <a:ext uri="{9D8B030D-6E8A-4147-A177-3AD203B41FA5}">
                      <a16:colId xmlns:a16="http://schemas.microsoft.com/office/drawing/2014/main" val="4288473552"/>
                    </a:ext>
                  </a:extLst>
                </a:gridCol>
                <a:gridCol w="4515262">
                  <a:extLst>
                    <a:ext uri="{9D8B030D-6E8A-4147-A177-3AD203B41FA5}">
                      <a16:colId xmlns:a16="http://schemas.microsoft.com/office/drawing/2014/main" val="1235977504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Parameter</a:t>
                      </a:r>
                      <a:endParaRPr lang="en-IN" sz="1300" b="1">
                        <a:effectLst/>
                      </a:endParaRP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Details</a:t>
                      </a:r>
                      <a:endParaRPr lang="en-IN" sz="1300" b="1">
                        <a:effectLst/>
                      </a:endParaRP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43359290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Project Name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AgriNova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201905368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Project Domain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Agriculture &amp; E-Commerce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373084529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Project Type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Full-Stack Web Application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29875064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Architecture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Client-Server Architecture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23843749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Frontend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React.js, Vite, Tailwind CSS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177204205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Backend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Node.js, Express.js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212208064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Database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MongoDB Atlas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323339659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AI Integration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Groq API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293306708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Image Storage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Cloudinary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258854139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Communication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Socket.IO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191256918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Authentication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JWT &amp; Google OAuth 2.0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50551344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Deployment</a:t>
                      </a:r>
                    </a:p>
                  </a:txBody>
                  <a:tcPr marL="78526" marR="78526" marT="39263" marB="39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 err="1">
                          <a:effectLst/>
                        </a:rPr>
                        <a:t>Vercel</a:t>
                      </a:r>
                      <a:r>
                        <a:rPr lang="en-IN" sz="1300" dirty="0">
                          <a:effectLst/>
                        </a:rPr>
                        <a:t> &amp; Render</a:t>
                      </a:r>
                    </a:p>
                  </a:txBody>
                  <a:tcPr marL="78526" marR="78526" marT="39263" marB="39263" anchor="ctr"/>
                </a:tc>
                <a:extLst>
                  <a:ext uri="{0D108BD9-81ED-4DB2-BD59-A6C34878D82A}">
                    <a16:rowId xmlns:a16="http://schemas.microsoft.com/office/drawing/2014/main" val="2540433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1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82F4-FCB6-B071-1E75-8CED5340B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Technology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BDCDE5-9605-8742-4518-0681906E90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420118"/>
              </p:ext>
            </p:extLst>
          </p:nvPr>
        </p:nvGraphicFramePr>
        <p:xfrm>
          <a:off x="972239" y="1690688"/>
          <a:ext cx="8340064" cy="43513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0032">
                  <a:extLst>
                    <a:ext uri="{9D8B030D-6E8A-4147-A177-3AD203B41FA5}">
                      <a16:colId xmlns:a16="http://schemas.microsoft.com/office/drawing/2014/main" val="264785528"/>
                    </a:ext>
                  </a:extLst>
                </a:gridCol>
                <a:gridCol w="4170032">
                  <a:extLst>
                    <a:ext uri="{9D8B030D-6E8A-4147-A177-3AD203B41FA5}">
                      <a16:colId xmlns:a16="http://schemas.microsoft.com/office/drawing/2014/main" val="113277309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Layer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Tools &amp; Technologies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8198133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Frontend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React 19, Vite, Tailwind CSS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7049941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UI &amp; Animations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Framer Motion, Lucide React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1285677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 Visualization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Recharts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6529006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Maps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Leaflet, React-Leaflet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8787805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Backend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Node.js, Express.js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69439993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Real-Time Communication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Socket.IO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29531387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Authentication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JWT, Google OAuth 2.0, Bcrypt.js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4904074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Database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MongoDB Atlas, Mongoose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46047948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Image Storage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Cloudinary, Multer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322342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AI Integration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Groq Cloud API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02149955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Email Services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Nodemailer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3426082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PDF Generation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jsPDF, jsPDF-AutoTable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74648249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Deployment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Vercel, Render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1393878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Development Tools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VS Code, Git, GitHub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30941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60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B838-AA8C-9321-B4A1-45B4191B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Diagram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EF1F0E6-ED44-1633-1A9E-816EE13E2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70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0B41-1C36-1780-F63A-42F9B732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System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BC3F2-915C-7FB2-470E-9CB887F86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147"/>
            <a:ext cx="10515600" cy="4351338"/>
          </a:xfrm>
        </p:spPr>
        <p:txBody>
          <a:bodyPr>
            <a:noAutofit/>
          </a:bodyPr>
          <a:lstStyle/>
          <a:p>
            <a:r>
              <a:rPr lang="en-IN" sz="1250" b="1" dirty="0"/>
              <a:t>Authentication &amp; User Management</a:t>
            </a:r>
            <a:endParaRPr lang="en-IN" sz="1250" dirty="0"/>
          </a:p>
          <a:p>
            <a:pPr lvl="1"/>
            <a:r>
              <a:rPr lang="en-IN" sz="1250" dirty="0"/>
              <a:t>User Registration and Login</a:t>
            </a:r>
          </a:p>
          <a:p>
            <a:pPr lvl="1"/>
            <a:r>
              <a:rPr lang="en-IN" sz="1250" dirty="0"/>
              <a:t>JWT &amp; Google OAuth Authentication</a:t>
            </a:r>
          </a:p>
          <a:p>
            <a:pPr lvl="1"/>
            <a:r>
              <a:rPr lang="en-IN" sz="1250" dirty="0"/>
              <a:t>Role-Based Access Control</a:t>
            </a:r>
          </a:p>
          <a:p>
            <a:r>
              <a:rPr lang="en-IN" sz="1250" b="1" dirty="0"/>
              <a:t>Marketplace &amp; Order Management</a:t>
            </a:r>
            <a:endParaRPr lang="en-IN" sz="1250" dirty="0"/>
          </a:p>
          <a:p>
            <a:pPr lvl="1"/>
            <a:r>
              <a:rPr lang="en-IN" sz="1250" dirty="0"/>
              <a:t>Agricultural Product Listings</a:t>
            </a:r>
          </a:p>
          <a:p>
            <a:pPr lvl="1"/>
            <a:r>
              <a:rPr lang="en-IN" sz="1250" dirty="0"/>
              <a:t>Cart and Order Processing</a:t>
            </a:r>
          </a:p>
          <a:p>
            <a:pPr lvl="1"/>
            <a:r>
              <a:rPr lang="en-IN" sz="1250" dirty="0"/>
              <a:t>Order Tracking and PDF Invoices</a:t>
            </a:r>
          </a:p>
          <a:p>
            <a:r>
              <a:rPr lang="en-IN" sz="1250" b="1" dirty="0" err="1"/>
              <a:t>AgriBot</a:t>
            </a:r>
            <a:r>
              <a:rPr lang="en-IN" sz="1250" b="1" dirty="0"/>
              <a:t> &amp; AI Moderation</a:t>
            </a:r>
            <a:endParaRPr lang="en-IN" sz="1250" dirty="0"/>
          </a:p>
          <a:p>
            <a:pPr lvl="1"/>
            <a:r>
              <a:rPr lang="en-IN" sz="1250" dirty="0"/>
              <a:t>AI-Powered Farming Assistance</a:t>
            </a:r>
          </a:p>
          <a:p>
            <a:pPr lvl="1"/>
            <a:r>
              <a:rPr lang="en-IN" sz="1250" dirty="0"/>
              <a:t>Chat Content Moderation</a:t>
            </a:r>
          </a:p>
          <a:p>
            <a:pPr lvl="1"/>
            <a:r>
              <a:rPr lang="en-IN" sz="1250" dirty="0"/>
              <a:t>Inappropriate Message Detection</a:t>
            </a:r>
          </a:p>
          <a:p>
            <a:r>
              <a:rPr lang="en-IN" sz="1250" b="1" dirty="0"/>
              <a:t>Agricultural Decision Support</a:t>
            </a:r>
            <a:endParaRPr lang="en-IN" sz="1250" dirty="0"/>
          </a:p>
          <a:p>
            <a:pPr lvl="1"/>
            <a:r>
              <a:rPr lang="en-IN" sz="1250" dirty="0"/>
              <a:t>Mandi Price Information</a:t>
            </a:r>
          </a:p>
          <a:p>
            <a:pPr lvl="1"/>
            <a:r>
              <a:rPr lang="en-IN" sz="1250" dirty="0"/>
              <a:t>Weather Forecasting</a:t>
            </a:r>
          </a:p>
          <a:p>
            <a:pPr lvl="1"/>
            <a:r>
              <a:rPr lang="en-IN" sz="1250" dirty="0"/>
              <a:t>Sales and Inventory Analytics</a:t>
            </a:r>
          </a:p>
          <a:p>
            <a:r>
              <a:rPr lang="en-IN" sz="1250" b="1" dirty="0"/>
              <a:t>Admin &amp; Governance</a:t>
            </a:r>
            <a:endParaRPr lang="en-IN" sz="1250" dirty="0"/>
          </a:p>
          <a:p>
            <a:pPr lvl="1"/>
            <a:r>
              <a:rPr lang="en-IN" sz="1250" dirty="0"/>
              <a:t>Farmer Verification</a:t>
            </a:r>
          </a:p>
          <a:p>
            <a:pPr lvl="1"/>
            <a:r>
              <a:rPr lang="en-IN" sz="1250" dirty="0"/>
              <a:t>User and Category Management</a:t>
            </a:r>
          </a:p>
          <a:p>
            <a:pPr lvl="1"/>
            <a:r>
              <a:rPr lang="en-IN" sz="1250" dirty="0"/>
              <a:t>Support Tickets and Flagged Messages</a:t>
            </a:r>
          </a:p>
          <a:p>
            <a:pPr lvl="0"/>
            <a:endParaRPr lang="en-IN" sz="1250" dirty="0"/>
          </a:p>
        </p:txBody>
      </p:sp>
    </p:spTree>
    <p:extLst>
      <p:ext uri="{BB962C8B-B14F-4D97-AF65-F5344CB8AC3E}">
        <p14:creationId xmlns:p14="http://schemas.microsoft.com/office/powerpoint/2010/main" val="27605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A2AEA-3FA3-ECB6-6BED-956DAC09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USERS OF THE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E2BF1-73B9-6B40-4194-66AED45F4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1. Farmer</a:t>
            </a:r>
          </a:p>
          <a:p>
            <a:pPr lvl="1"/>
            <a:r>
              <a:rPr lang="en-IN" dirty="0"/>
              <a:t>Manage profile and farm details</a:t>
            </a:r>
          </a:p>
          <a:p>
            <a:pPr lvl="1"/>
            <a:r>
              <a:rPr lang="en-IN" dirty="0"/>
              <a:t>Add and manage agricultural products</a:t>
            </a:r>
          </a:p>
          <a:p>
            <a:pPr lvl="1"/>
            <a:r>
              <a:rPr lang="en-IN" dirty="0"/>
              <a:t>Track orders and sales</a:t>
            </a:r>
          </a:p>
          <a:p>
            <a:pPr lvl="1"/>
            <a:r>
              <a:rPr lang="en-IN" dirty="0"/>
              <a:t>Access mandi prices and weather forecasts</a:t>
            </a:r>
          </a:p>
          <a:p>
            <a:pPr lvl="1"/>
            <a:r>
              <a:rPr lang="en-IN" dirty="0"/>
              <a:t>Chat with buyers and use </a:t>
            </a:r>
            <a:r>
              <a:rPr lang="en-IN" dirty="0" err="1"/>
              <a:t>AgriBot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2. Buyer</a:t>
            </a:r>
          </a:p>
          <a:p>
            <a:pPr lvl="1"/>
            <a:r>
              <a:rPr lang="en-IN" dirty="0"/>
              <a:t>Browse and search agricultural products</a:t>
            </a:r>
          </a:p>
          <a:p>
            <a:pPr lvl="1"/>
            <a:r>
              <a:rPr lang="en-IN" dirty="0"/>
              <a:t>Add products to cart and place orders</a:t>
            </a:r>
          </a:p>
          <a:p>
            <a:pPr lvl="1"/>
            <a:r>
              <a:rPr lang="en-IN" dirty="0"/>
              <a:t>Track orders and download invoices</a:t>
            </a:r>
          </a:p>
          <a:p>
            <a:pPr lvl="1"/>
            <a:r>
              <a:rPr lang="en-IN" dirty="0"/>
              <a:t>Chat with farmers</a:t>
            </a:r>
          </a:p>
          <a:p>
            <a:pPr lvl="1"/>
            <a:r>
              <a:rPr lang="en-IN" dirty="0"/>
              <a:t>Submit ratings and reviews</a:t>
            </a:r>
          </a:p>
          <a:p>
            <a:pPr marL="0" indent="0">
              <a:buNone/>
            </a:pPr>
            <a:r>
              <a:rPr lang="en-IN" b="1" dirty="0"/>
              <a:t>3. Admin</a:t>
            </a:r>
          </a:p>
          <a:p>
            <a:pPr lvl="1"/>
            <a:r>
              <a:rPr lang="en-IN" dirty="0"/>
              <a:t>Verify farmer accounts</a:t>
            </a:r>
          </a:p>
          <a:p>
            <a:pPr lvl="1"/>
            <a:r>
              <a:rPr lang="en-IN" dirty="0"/>
              <a:t>Manage users and product categories</a:t>
            </a:r>
          </a:p>
          <a:p>
            <a:pPr lvl="1"/>
            <a:r>
              <a:rPr lang="en-IN" dirty="0"/>
              <a:t>Monitor orders and platform activity</a:t>
            </a:r>
          </a:p>
          <a:p>
            <a:pPr lvl="1"/>
            <a:r>
              <a:rPr lang="en-IN" dirty="0"/>
              <a:t>Review flagged messages</a:t>
            </a:r>
          </a:p>
          <a:p>
            <a:pPr lvl="1"/>
            <a:r>
              <a:rPr lang="en-IN" dirty="0"/>
              <a:t>Manage support tickets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7224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56712-A531-4E86-4026-6C163629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CORE FUNCTIONALITIES — MARKETPLACE &amp; DIRECT TRADE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0BC66-C5C0-CAE4-407C-D5C1BE66A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1. Product Listings</a:t>
            </a:r>
          </a:p>
          <a:p>
            <a:pPr lvl="1"/>
            <a:r>
              <a:rPr lang="en-IN" dirty="0"/>
              <a:t>Add agricultural products with images</a:t>
            </a:r>
          </a:p>
          <a:p>
            <a:pPr lvl="1"/>
            <a:r>
              <a:rPr lang="en-IN" dirty="0"/>
              <a:t>Set price, quantity, and unit</a:t>
            </a:r>
          </a:p>
          <a:p>
            <a:pPr lvl="1"/>
            <a:r>
              <a:rPr lang="en-IN" dirty="0"/>
              <a:t>Display harvest date and product details</a:t>
            </a:r>
          </a:p>
          <a:p>
            <a:pPr marL="0" indent="0">
              <a:buNone/>
            </a:pPr>
            <a:r>
              <a:rPr lang="en-IN" b="1" dirty="0"/>
              <a:t>2. Search &amp; Filtering</a:t>
            </a:r>
          </a:p>
          <a:p>
            <a:pPr lvl="1"/>
            <a:r>
              <a:rPr lang="en-IN" dirty="0"/>
              <a:t>Search products by name</a:t>
            </a:r>
          </a:p>
          <a:p>
            <a:pPr lvl="1"/>
            <a:r>
              <a:rPr lang="en-IN" dirty="0"/>
              <a:t>Filter by category and price</a:t>
            </a:r>
          </a:p>
          <a:p>
            <a:pPr lvl="1"/>
            <a:r>
              <a:rPr lang="en-IN" dirty="0"/>
              <a:t>Explore available products easily</a:t>
            </a:r>
          </a:p>
          <a:p>
            <a:pPr marL="0" indent="0">
              <a:buNone/>
            </a:pPr>
            <a:r>
              <a:rPr lang="en-IN" b="1" dirty="0"/>
              <a:t>3. Cart &amp; Order Management</a:t>
            </a:r>
          </a:p>
          <a:p>
            <a:pPr lvl="1"/>
            <a:r>
              <a:rPr lang="en-IN" dirty="0"/>
              <a:t>Add products to the shopping cart</a:t>
            </a:r>
          </a:p>
          <a:p>
            <a:pPr lvl="1"/>
            <a:r>
              <a:rPr lang="en-IN" dirty="0"/>
              <a:t>Validate product stock</a:t>
            </a:r>
          </a:p>
          <a:p>
            <a:pPr lvl="1"/>
            <a:r>
              <a:rPr lang="en-IN" dirty="0"/>
              <a:t>Place and track orders</a:t>
            </a:r>
          </a:p>
          <a:p>
            <a:pPr marL="0" indent="0">
              <a:buNone/>
            </a:pPr>
            <a:r>
              <a:rPr lang="en-IN" b="1" dirty="0"/>
              <a:t>4. Reviews</a:t>
            </a:r>
          </a:p>
          <a:p>
            <a:pPr lvl="1"/>
            <a:r>
              <a:rPr lang="en-IN" dirty="0"/>
              <a:t>Rate and review products</a:t>
            </a:r>
          </a:p>
          <a:p>
            <a:pPr lvl="1"/>
            <a:r>
              <a:rPr lang="en-IN" dirty="0"/>
              <a:t>View product ratings and feedback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3115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7BDE6-2FCC-E87C-DA7F-900BD440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CORE FUNCTIONALITIES — AGRIBOT &amp; AI MODERATION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CDAC2-197F-85FC-CDDB-B246E48F4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1. </a:t>
            </a:r>
            <a:r>
              <a:rPr lang="en-IN" b="1" dirty="0" err="1"/>
              <a:t>AgriBot</a:t>
            </a:r>
            <a:r>
              <a:rPr lang="en-IN" b="1" dirty="0"/>
              <a:t> AI Assistant</a:t>
            </a:r>
          </a:p>
          <a:p>
            <a:pPr lvl="1"/>
            <a:r>
              <a:rPr lang="en-IN" dirty="0"/>
              <a:t>Provides AI-powered farming guidance</a:t>
            </a:r>
          </a:p>
          <a:p>
            <a:pPr lvl="1"/>
            <a:r>
              <a:rPr lang="en-IN" dirty="0"/>
              <a:t>Answers crop and pest-related questions</a:t>
            </a:r>
          </a:p>
          <a:p>
            <a:pPr lvl="1"/>
            <a:r>
              <a:rPr lang="en-IN" dirty="0"/>
              <a:t>Offers soil nutrient and planting advice</a:t>
            </a:r>
          </a:p>
          <a:p>
            <a:pPr lvl="1"/>
            <a:r>
              <a:rPr lang="en-IN" dirty="0"/>
              <a:t>Generates easy-to-understand responses</a:t>
            </a:r>
          </a:p>
          <a:p>
            <a:pPr marL="0" indent="0">
              <a:buNone/>
            </a:pPr>
            <a:r>
              <a:rPr lang="en-IN" b="1" dirty="0"/>
              <a:t>2. AI Chat Moderation</a:t>
            </a:r>
          </a:p>
          <a:p>
            <a:pPr lvl="1"/>
            <a:r>
              <a:rPr lang="en-IN" dirty="0" err="1"/>
              <a:t>Analyzes</a:t>
            </a:r>
            <a:r>
              <a:rPr lang="en-IN" dirty="0"/>
              <a:t> farmer–buyer messages</a:t>
            </a:r>
          </a:p>
          <a:p>
            <a:pPr lvl="1"/>
            <a:r>
              <a:rPr lang="en-IN" dirty="0"/>
              <a:t>Detects inappropriate or abusive content</a:t>
            </a:r>
          </a:p>
          <a:p>
            <a:pPr lvl="1"/>
            <a:r>
              <a:rPr lang="en-IN" dirty="0"/>
              <a:t>Flags potentially suspicious messages</a:t>
            </a:r>
          </a:p>
          <a:p>
            <a:pPr lvl="1"/>
            <a:r>
              <a:rPr lang="en-IN" dirty="0"/>
              <a:t>Promotes safer platform communication</a:t>
            </a:r>
          </a:p>
          <a:p>
            <a:pPr marL="0" indent="0">
              <a:buNone/>
            </a:pPr>
            <a:r>
              <a:rPr lang="en-IN" b="1" dirty="0"/>
              <a:t>3. Technology Used</a:t>
            </a:r>
          </a:p>
          <a:p>
            <a:pPr lvl="1"/>
            <a:r>
              <a:rPr lang="en-IN" dirty="0" err="1"/>
              <a:t>Groq</a:t>
            </a:r>
            <a:r>
              <a:rPr lang="en-IN" dirty="0"/>
              <a:t> API for AI integration</a:t>
            </a:r>
          </a:p>
          <a:p>
            <a:pPr lvl="1"/>
            <a:r>
              <a:rPr lang="en-IN" dirty="0"/>
              <a:t>Large Language Model (LLM)</a:t>
            </a:r>
          </a:p>
          <a:p>
            <a:pPr lvl="1"/>
            <a:r>
              <a:rPr lang="en-IN" dirty="0"/>
              <a:t>Real-time messaging using Socket.IO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219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F183E-7BD2-50B2-233F-300224BC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CORE FUNCTIONALITIES — DECISION SUPPORT, MANDI &amp; WEATHER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80532-715A-3527-DF7B-AFC6561FC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1. Mandi Price Information</a:t>
            </a:r>
          </a:p>
          <a:p>
            <a:pPr lvl="1"/>
            <a:r>
              <a:rPr lang="en-IN" dirty="0"/>
              <a:t>View agricultural market prices</a:t>
            </a:r>
          </a:p>
          <a:p>
            <a:pPr lvl="1"/>
            <a:r>
              <a:rPr lang="en-IN" dirty="0"/>
              <a:t>Compare prices before listing products</a:t>
            </a:r>
          </a:p>
          <a:p>
            <a:pPr lvl="1"/>
            <a:r>
              <a:rPr lang="en-IN" dirty="0"/>
              <a:t>Support informed selling decisions</a:t>
            </a:r>
          </a:p>
          <a:p>
            <a:pPr marL="0" indent="0">
              <a:buNone/>
            </a:pPr>
            <a:r>
              <a:rPr lang="en-IN" b="1" dirty="0"/>
              <a:t>2. Weather Dashboard</a:t>
            </a:r>
          </a:p>
          <a:p>
            <a:pPr lvl="1"/>
            <a:r>
              <a:rPr lang="en-IN" dirty="0"/>
              <a:t>Display local weather forecasts</a:t>
            </a:r>
          </a:p>
          <a:p>
            <a:pPr lvl="1"/>
            <a:r>
              <a:rPr lang="en-IN" dirty="0"/>
              <a:t>View temperature, humidity, and wind speed</a:t>
            </a:r>
          </a:p>
          <a:p>
            <a:pPr lvl="1"/>
            <a:r>
              <a:rPr lang="en-IN" dirty="0"/>
              <a:t>Monitor rainfall and weather conditions</a:t>
            </a:r>
          </a:p>
          <a:p>
            <a:pPr marL="0" indent="0">
              <a:buNone/>
            </a:pPr>
            <a:r>
              <a:rPr lang="en-IN" b="1" dirty="0"/>
              <a:t>3. Sales Analytics</a:t>
            </a:r>
          </a:p>
          <a:p>
            <a:pPr lvl="1"/>
            <a:r>
              <a:rPr lang="en-IN" dirty="0"/>
              <a:t>Visualize monthly sales and revenue</a:t>
            </a:r>
          </a:p>
          <a:p>
            <a:pPr lvl="1"/>
            <a:r>
              <a:rPr lang="en-IN" dirty="0"/>
              <a:t>Identify top-selling agricultural products</a:t>
            </a:r>
          </a:p>
          <a:p>
            <a:pPr lvl="1"/>
            <a:r>
              <a:rPr lang="en-IN" dirty="0"/>
              <a:t>Monitor pending orders and inventory</a:t>
            </a:r>
          </a:p>
          <a:p>
            <a:pPr marL="0" indent="0">
              <a:buNone/>
            </a:pPr>
            <a:r>
              <a:rPr lang="en-IN" b="1" dirty="0"/>
              <a:t>4. Technology Used</a:t>
            </a:r>
          </a:p>
          <a:p>
            <a:pPr lvl="1"/>
            <a:r>
              <a:rPr lang="en-IN" dirty="0"/>
              <a:t>Weather API for forecast data</a:t>
            </a:r>
          </a:p>
          <a:p>
            <a:pPr lvl="1"/>
            <a:r>
              <a:rPr lang="en-IN" dirty="0"/>
              <a:t>Recharts for data visualization</a:t>
            </a:r>
          </a:p>
          <a:p>
            <a:pPr lvl="1"/>
            <a:r>
              <a:rPr lang="en-IN" dirty="0"/>
              <a:t>Location-based weather information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688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FF0B8-22DF-71BE-6296-A9EFF85D4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ADMIN GOVERNANCE &amp; VERIFICATION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9609F-2148-ADB8-9212-CFC54280B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1. Farmer Verification</a:t>
            </a:r>
          </a:p>
          <a:p>
            <a:pPr lvl="1"/>
            <a:r>
              <a:rPr lang="en-IN" dirty="0"/>
              <a:t>Review farmer verification requests</a:t>
            </a:r>
          </a:p>
          <a:p>
            <a:pPr lvl="1"/>
            <a:r>
              <a:rPr lang="en-IN" dirty="0"/>
              <a:t>Validate farm details</a:t>
            </a:r>
          </a:p>
          <a:p>
            <a:pPr lvl="1"/>
            <a:r>
              <a:rPr lang="en-IN" dirty="0"/>
              <a:t>Display verification status</a:t>
            </a:r>
          </a:p>
          <a:p>
            <a:pPr marL="0" indent="0">
              <a:buNone/>
            </a:pPr>
            <a:r>
              <a:rPr lang="en-IN" b="1" dirty="0"/>
              <a:t>2. User Management</a:t>
            </a:r>
          </a:p>
          <a:p>
            <a:pPr lvl="1"/>
            <a:r>
              <a:rPr lang="en-IN" dirty="0"/>
              <a:t>Manage farmer and buyer accounts</a:t>
            </a:r>
          </a:p>
          <a:p>
            <a:pPr lvl="1"/>
            <a:r>
              <a:rPr lang="en-IN" dirty="0"/>
              <a:t>Monitor user activity</a:t>
            </a:r>
          </a:p>
          <a:p>
            <a:pPr lvl="1"/>
            <a:r>
              <a:rPr lang="en-IN" dirty="0"/>
              <a:t>Manage account access and status</a:t>
            </a:r>
          </a:p>
          <a:p>
            <a:pPr marL="0" indent="0">
              <a:buNone/>
            </a:pPr>
            <a:r>
              <a:rPr lang="en-IN" b="1" dirty="0"/>
              <a:t>3. Platform Monitoring</a:t>
            </a:r>
          </a:p>
          <a:p>
            <a:pPr lvl="1"/>
            <a:r>
              <a:rPr lang="en-IN" dirty="0"/>
              <a:t>Monitor orders and platform activity</a:t>
            </a:r>
          </a:p>
          <a:p>
            <a:pPr lvl="1"/>
            <a:r>
              <a:rPr lang="en-IN" dirty="0"/>
              <a:t>Review flagged messages</a:t>
            </a:r>
          </a:p>
          <a:p>
            <a:pPr lvl="1"/>
            <a:r>
              <a:rPr lang="en-IN" dirty="0"/>
              <a:t>Track key dashboard statistics</a:t>
            </a:r>
          </a:p>
          <a:p>
            <a:pPr marL="0" indent="0">
              <a:buNone/>
            </a:pPr>
            <a:r>
              <a:rPr lang="en-IN" b="1" dirty="0"/>
              <a:t>4. Support &amp; Category Management</a:t>
            </a:r>
          </a:p>
          <a:p>
            <a:pPr lvl="1"/>
            <a:r>
              <a:rPr lang="en-IN" dirty="0"/>
              <a:t>Manage customer support tickets</a:t>
            </a:r>
          </a:p>
          <a:p>
            <a:pPr lvl="1"/>
            <a:r>
              <a:rPr lang="en-IN" dirty="0"/>
              <a:t>Update agricultural product categories</a:t>
            </a:r>
          </a:p>
          <a:p>
            <a:pPr lvl="1"/>
            <a:r>
              <a:rPr lang="en-IN" dirty="0"/>
              <a:t>Track ticket status and priority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123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4ED0-EB96-C5D1-9D60-5A375D1F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KEY HIGHLIGHTS &amp; COMPETITIVE 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3299F-4754-A787-4E22-48EF72701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1. Direct Farmer-to-Buyer Marketplace</a:t>
            </a:r>
          </a:p>
          <a:p>
            <a:pPr lvl="1"/>
            <a:r>
              <a:rPr lang="en-IN" dirty="0"/>
              <a:t>Reduces dependence on intermediaries</a:t>
            </a:r>
          </a:p>
          <a:p>
            <a:pPr lvl="1"/>
            <a:r>
              <a:rPr lang="en-IN" dirty="0"/>
              <a:t>Enables direct product discovery and trade</a:t>
            </a:r>
          </a:p>
          <a:p>
            <a:pPr marL="0" indent="0">
              <a:buNone/>
            </a:pPr>
            <a:r>
              <a:rPr lang="en-IN" b="1" dirty="0"/>
              <a:t>2. AI-Powered Farming Assistance</a:t>
            </a:r>
          </a:p>
          <a:p>
            <a:pPr lvl="1"/>
            <a:r>
              <a:rPr lang="en-IN" dirty="0" err="1"/>
              <a:t>AgriBot</a:t>
            </a:r>
            <a:r>
              <a:rPr lang="en-IN" dirty="0"/>
              <a:t> provides farming-related guidance</a:t>
            </a:r>
          </a:p>
          <a:p>
            <a:pPr lvl="1"/>
            <a:r>
              <a:rPr lang="en-IN" dirty="0"/>
              <a:t>Supports crop and pest-related queries</a:t>
            </a:r>
          </a:p>
          <a:p>
            <a:pPr marL="0" indent="0">
              <a:buNone/>
            </a:pPr>
            <a:r>
              <a:rPr lang="en-IN" b="1" dirty="0"/>
              <a:t>3. Smart Agricultural Insights</a:t>
            </a:r>
          </a:p>
          <a:p>
            <a:pPr lvl="1"/>
            <a:r>
              <a:rPr lang="en-IN" dirty="0"/>
              <a:t>Mandi price information</a:t>
            </a:r>
          </a:p>
          <a:p>
            <a:pPr lvl="1"/>
            <a:r>
              <a:rPr lang="en-IN" dirty="0"/>
              <a:t>Weather forecasts and sales analytics</a:t>
            </a:r>
          </a:p>
          <a:p>
            <a:pPr marL="0" indent="0">
              <a:buNone/>
            </a:pPr>
            <a:r>
              <a:rPr lang="en-IN" b="1" dirty="0"/>
              <a:t>4. Trust &amp; Security</a:t>
            </a:r>
          </a:p>
          <a:p>
            <a:pPr lvl="1"/>
            <a:r>
              <a:rPr lang="en-IN" dirty="0"/>
              <a:t>Farmer verification</a:t>
            </a:r>
          </a:p>
          <a:p>
            <a:pPr lvl="1"/>
            <a:r>
              <a:rPr lang="en-IN" dirty="0"/>
              <a:t>AI-based chat moderation</a:t>
            </a:r>
          </a:p>
          <a:p>
            <a:pPr lvl="1"/>
            <a:r>
              <a:rPr lang="en-IN" dirty="0"/>
              <a:t>Ratings and reviews</a:t>
            </a:r>
          </a:p>
          <a:p>
            <a:pPr marL="0" indent="0">
              <a:buNone/>
            </a:pPr>
            <a:r>
              <a:rPr lang="en-IN" b="1" dirty="0"/>
              <a:t>5. Digital Management</a:t>
            </a:r>
          </a:p>
          <a:p>
            <a:pPr lvl="1"/>
            <a:r>
              <a:rPr lang="en-IN" dirty="0"/>
              <a:t>Online order tracking</a:t>
            </a:r>
          </a:p>
          <a:p>
            <a:pPr lvl="1"/>
            <a:r>
              <a:rPr lang="en-IN" dirty="0"/>
              <a:t>PDF invoice generation</a:t>
            </a:r>
          </a:p>
          <a:p>
            <a:pPr lvl="1"/>
            <a:r>
              <a:rPr lang="en-IN" dirty="0"/>
              <a:t>Centralized platform administration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142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4650-EE92-AB1D-242B-14DF12FA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SCOPE &amp; ENHANCEMENTS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CAAE2-B662-35A1-4B05-239DFA4D0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1. Online Payment Integration</a:t>
            </a:r>
          </a:p>
          <a:p>
            <a:pPr lvl="1"/>
            <a:r>
              <a:rPr lang="en-IN" dirty="0"/>
              <a:t>Secure payment gateway integration</a:t>
            </a:r>
          </a:p>
          <a:p>
            <a:pPr lvl="1"/>
            <a:r>
              <a:rPr lang="en-IN" dirty="0"/>
              <a:t>Digital transaction tracking</a:t>
            </a:r>
          </a:p>
          <a:p>
            <a:pPr marL="0" indent="0">
              <a:buNone/>
            </a:pPr>
            <a:r>
              <a:rPr lang="en-IN" b="1" dirty="0"/>
              <a:t>2. IoT-Based Smart Farming</a:t>
            </a:r>
          </a:p>
          <a:p>
            <a:pPr lvl="1"/>
            <a:r>
              <a:rPr lang="en-IN" dirty="0"/>
              <a:t>Soil moisture monitoring</a:t>
            </a:r>
          </a:p>
          <a:p>
            <a:pPr lvl="1"/>
            <a:r>
              <a:rPr lang="en-IN" dirty="0"/>
              <a:t>Sensor-based irrigation recommendations</a:t>
            </a:r>
          </a:p>
          <a:p>
            <a:pPr marL="0" indent="0">
              <a:buNone/>
            </a:pPr>
            <a:r>
              <a:rPr lang="en-IN" b="1" dirty="0"/>
              <a:t>3. Multilingual AI Assistant</a:t>
            </a:r>
          </a:p>
          <a:p>
            <a:pPr lvl="1"/>
            <a:r>
              <a:rPr lang="en-IN" dirty="0"/>
              <a:t>Gujarati and Hindi language support</a:t>
            </a:r>
          </a:p>
          <a:p>
            <a:pPr lvl="1"/>
            <a:r>
              <a:rPr lang="en-IN" dirty="0"/>
              <a:t>Voice-based farming assistance</a:t>
            </a:r>
          </a:p>
          <a:p>
            <a:pPr marL="0" indent="0">
              <a:buNone/>
            </a:pPr>
            <a:r>
              <a:rPr lang="en-IN" b="1" dirty="0"/>
              <a:t>4. Crop Disease Detection</a:t>
            </a:r>
          </a:p>
          <a:p>
            <a:pPr lvl="1"/>
            <a:r>
              <a:rPr lang="en-IN" dirty="0"/>
              <a:t>Image-based disease identification</a:t>
            </a:r>
          </a:p>
          <a:p>
            <a:pPr lvl="1"/>
            <a:r>
              <a:rPr lang="en-IN" dirty="0"/>
              <a:t>AI-powered crop health recommendations</a:t>
            </a:r>
          </a:p>
          <a:p>
            <a:pPr marL="0" indent="0">
              <a:buNone/>
            </a:pPr>
            <a:r>
              <a:rPr lang="en-IN" b="1" dirty="0"/>
              <a:t>5. Smart Logistics</a:t>
            </a:r>
          </a:p>
          <a:p>
            <a:pPr lvl="1"/>
            <a:r>
              <a:rPr lang="en-IN" dirty="0"/>
              <a:t>Delivery tracking</a:t>
            </a:r>
          </a:p>
          <a:p>
            <a:pPr lvl="1"/>
            <a:r>
              <a:rPr lang="en-IN" dirty="0"/>
              <a:t>Cold-chain and storage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846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8460-C948-1C3F-D07B-1714E78C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0AFEF-694D-CD28-1D21-48634B879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AgriNova</a:t>
            </a:r>
            <a:r>
              <a:rPr lang="en-IN" dirty="0"/>
              <a:t> connects farmers and buyers through a digital marketplace.</a:t>
            </a:r>
          </a:p>
          <a:p>
            <a:pPr lvl="0"/>
            <a:r>
              <a:rPr lang="en-IN" dirty="0" err="1"/>
              <a:t>AgriBot</a:t>
            </a:r>
            <a:r>
              <a:rPr lang="en-IN" dirty="0"/>
              <a:t> provides AI-powered farming assistance.</a:t>
            </a:r>
          </a:p>
          <a:p>
            <a:pPr lvl="0"/>
            <a:r>
              <a:rPr lang="en-IN" dirty="0"/>
              <a:t>Mandi prices and weather forecasts support informed decisions.</a:t>
            </a:r>
          </a:p>
          <a:p>
            <a:pPr lvl="0"/>
            <a:r>
              <a:rPr lang="en-IN" dirty="0"/>
              <a:t>Order management and chat moderation improve platform usability and trust.</a:t>
            </a:r>
          </a:p>
          <a:p>
            <a:pPr lvl="0"/>
            <a:r>
              <a:rPr lang="en-IN" dirty="0"/>
              <a:t>The platform promotes digital transformation in agriculture.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912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1071</Words>
  <Application>Microsoft Office PowerPoint</Application>
  <PresentationFormat>Widescreen</PresentationFormat>
  <Paragraphs>241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AgriNova</vt:lpstr>
      <vt:lpstr>Introduction</vt:lpstr>
      <vt:lpstr>Problem Statement</vt:lpstr>
      <vt:lpstr>Project Definition &amp; Objectives</vt:lpstr>
      <vt:lpstr>Project Profile</vt:lpstr>
      <vt:lpstr>Tools and Technology Stack</vt:lpstr>
      <vt:lpstr>System Architecture Diagram</vt:lpstr>
      <vt:lpstr>Key System Modules</vt:lpstr>
      <vt:lpstr>USERS OF THE SYSTEM</vt:lpstr>
      <vt:lpstr>CORE FUNCTIONALITIES — MARKETPLACE &amp; DIRECT TRADE</vt:lpstr>
      <vt:lpstr>CORE FUNCTIONALITIES — AGRIBOT &amp; AI MODERATION</vt:lpstr>
      <vt:lpstr>CORE FUNCTIONALITIES — DECISION SUPPORT, MANDI &amp; WEATHER</vt:lpstr>
      <vt:lpstr>ADMIN GOVERNANCE &amp; VERIFICATION</vt:lpstr>
      <vt:lpstr>KEY HIGHLIGHTS &amp; COMPETITIVE ADVANTAGES</vt:lpstr>
      <vt:lpstr>FUTURE SCOPE &amp; ENHANCEMENTS</vt:lpstr>
      <vt:lpstr>CONCLUSION</vt:lpstr>
    </vt:vector>
  </TitlesOfParts>
  <Company>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Darshak Jikadra</dc:creator>
  <cp:lastModifiedBy>Darshak Jikadra</cp:lastModifiedBy>
  <cp:revision>9</cp:revision>
  <dcterms:created xsi:type="dcterms:W3CDTF">2026-10-10T12:04:31Z</dcterms:created>
  <dcterms:modified xsi:type="dcterms:W3CDTF">2026-10-10T12:22:00Z</dcterms:modified>
</cp:coreProperties>
</file>